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bc79df1cf945a6" /><Relationship Type="http://schemas.openxmlformats.org/officeDocument/2006/relationships/extended-properties" Target="/docProps/app.xml" Id="Re99b8ffef5314810" /><Relationship Type="http://schemas.openxmlformats.org/officeDocument/2006/relationships/officeDocument" Target="/ppt/presentation.xml" Id="Rc6f488ad26734e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177d9ad9ce4198"/>
  </p:sldMasterIdLst>
  <p:notesMasterIdLst>
    <p:notesMasterId xmlns:r="http://schemas.openxmlformats.org/officeDocument/2006/relationships" r:id="Ra52687034e3743bc"/>
  </p:notesMasterIdLst>
  <p:sldIdLst>
    <p:sldId xmlns:r="http://schemas.openxmlformats.org/officeDocument/2006/relationships" id="256" r:id="Re789ac4bdf524f61"/>
    <p:sldId xmlns:r="http://schemas.openxmlformats.org/officeDocument/2006/relationships" id="257" r:id="Rb8db0dc9bf19474e"/>
    <p:sldId xmlns:r="http://schemas.openxmlformats.org/officeDocument/2006/relationships" id="258" r:id="R2c9ad51e3acc470b"/>
    <p:sldId xmlns:r="http://schemas.openxmlformats.org/officeDocument/2006/relationships" id="259" r:id="Rae1051dcee77492a"/>
    <p:sldId xmlns:r="http://schemas.openxmlformats.org/officeDocument/2006/relationships" id="260" r:id="Rfdaf3cfa855f4a27"/>
    <p:sldId xmlns:r="http://schemas.openxmlformats.org/officeDocument/2006/relationships" id="261" r:id="R0aad0b7e7df44665"/>
    <p:sldId xmlns:r="http://schemas.openxmlformats.org/officeDocument/2006/relationships" id="262" r:id="R37a20cdea23c462c"/>
    <p:sldId xmlns:r="http://schemas.openxmlformats.org/officeDocument/2006/relationships" id="263" r:id="R178b4bff53aa4540"/>
    <p:sldId xmlns:r="http://schemas.openxmlformats.org/officeDocument/2006/relationships" id="264" r:id="Ra9568baa459844d8"/>
    <p:sldId xmlns:r="http://schemas.openxmlformats.org/officeDocument/2006/relationships" id="265" r:id="R6350202f16ee4213"/>
    <p:sldId xmlns:r="http://schemas.openxmlformats.org/officeDocument/2006/relationships" id="266" r:id="Rdcbf004c550f475d"/>
    <p:sldId xmlns:r="http://schemas.openxmlformats.org/officeDocument/2006/relationships" id="267" r:id="R1015543d0dff40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a930e8ddb74662" /><Relationship Type="http://schemas.openxmlformats.org/officeDocument/2006/relationships/slideMaster" Target="/ppt/slideMasters/slideMaster1.xml" Id="R17177d9ad9ce4198" /><Relationship Type="http://schemas.openxmlformats.org/officeDocument/2006/relationships/notesMaster" Target="/ppt/notesMasters/notesMaster1.xml" Id="Ra52687034e3743bc" /><Relationship Type="http://schemas.openxmlformats.org/officeDocument/2006/relationships/presProps" Target="/ppt/presProps.xml" Id="R89a110acb8684cb7" /><Relationship Type="http://schemas.openxmlformats.org/officeDocument/2006/relationships/tableStyles" Target="/ppt/tableStyles.xml" Id="R92edd563136147d4" /><Relationship Type="http://schemas.openxmlformats.org/officeDocument/2006/relationships/slide" Target="/ppt/slides/slide1.xml" Id="Re789ac4bdf524f61" /><Relationship Type="http://schemas.openxmlformats.org/officeDocument/2006/relationships/slide" Target="/ppt/slides/slide2.xml" Id="Rb8db0dc9bf19474e" /><Relationship Type="http://schemas.openxmlformats.org/officeDocument/2006/relationships/slide" Target="/ppt/slides/slide3.xml" Id="R2c9ad51e3acc470b" /><Relationship Type="http://schemas.openxmlformats.org/officeDocument/2006/relationships/slide" Target="/ppt/slides/slide4.xml" Id="Rae1051dcee77492a" /><Relationship Type="http://schemas.openxmlformats.org/officeDocument/2006/relationships/slide" Target="/ppt/slides/slide5.xml" Id="Rfdaf3cfa855f4a27" /><Relationship Type="http://schemas.openxmlformats.org/officeDocument/2006/relationships/slide" Target="/ppt/slides/slide6.xml" Id="R0aad0b7e7df44665" /><Relationship Type="http://schemas.openxmlformats.org/officeDocument/2006/relationships/slide" Target="/ppt/slides/slide7.xml" Id="R37a20cdea23c462c" /><Relationship Type="http://schemas.openxmlformats.org/officeDocument/2006/relationships/slide" Target="/ppt/slides/slide8.xml" Id="R178b4bff53aa4540" /><Relationship Type="http://schemas.openxmlformats.org/officeDocument/2006/relationships/slide" Target="/ppt/slides/slide9.xml" Id="Ra9568baa459844d8" /><Relationship Type="http://schemas.openxmlformats.org/officeDocument/2006/relationships/slide" Target="/ppt/slides/slide10.xml" Id="R6350202f16ee4213" /><Relationship Type="http://schemas.openxmlformats.org/officeDocument/2006/relationships/slide" Target="/ppt/slides/slide11.xml" Id="Rdcbf004c550f475d" /><Relationship Type="http://schemas.openxmlformats.org/officeDocument/2006/relationships/slide" Target="/ppt/slides/slide12.xml" Id="R1015543d0dff40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5b5575f0dc40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6a4a4eafa0430d" /><Relationship Type="http://schemas.openxmlformats.org/officeDocument/2006/relationships/notesMaster" Target="/ppt/notesMasters/notesMaster1.xml" Id="R7205aa3e3e654d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fdbf121bc6422f" /><Relationship Type="http://schemas.openxmlformats.org/officeDocument/2006/relationships/notesMaster" Target="/ppt/notesMasters/notesMaster1.xml" Id="Rf629ee3e8f7c4c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107ad9f5b541fc" /><Relationship Type="http://schemas.openxmlformats.org/officeDocument/2006/relationships/notesMaster" Target="/ppt/notesMasters/notesMaster1.xml" Id="R6f8cab7c861a48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e6b831b96949e9" /><Relationship Type="http://schemas.openxmlformats.org/officeDocument/2006/relationships/notesMaster" Target="/ppt/notesMasters/notesMaster1.xml" Id="R016e12501bea46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82b074ea984ec3" /><Relationship Type="http://schemas.openxmlformats.org/officeDocument/2006/relationships/notesMaster" Target="/ppt/notesMasters/notesMaster1.xml" Id="R657e47e10dfc4e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706f01c87f449a" /><Relationship Type="http://schemas.openxmlformats.org/officeDocument/2006/relationships/notesMaster" Target="/ppt/notesMasters/notesMaster1.xml" Id="R73c7287ce78641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9b7592e47c4a77" /><Relationship Type="http://schemas.openxmlformats.org/officeDocument/2006/relationships/notesMaster" Target="/ppt/notesMasters/notesMaster1.xml" Id="Ref9ae398db1c44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c72fee427d4bde" /><Relationship Type="http://schemas.openxmlformats.org/officeDocument/2006/relationships/notesMaster" Target="/ppt/notesMasters/notesMaster1.xml" Id="R30db433f06cd4b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7ded5061c84334" /><Relationship Type="http://schemas.openxmlformats.org/officeDocument/2006/relationships/notesMaster" Target="/ppt/notesMasters/notesMaster1.xml" Id="Rf17aa5c8e0de41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cc1cb69c534204" /><Relationship Type="http://schemas.openxmlformats.org/officeDocument/2006/relationships/notesMaster" Target="/ppt/notesMasters/notesMaster1.xml" Id="R94bc51cfe84b4f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35fbf3e27b4bf6" /><Relationship Type="http://schemas.openxmlformats.org/officeDocument/2006/relationships/notesMaster" Target="/ppt/notesMasters/notesMaster1.xml" Id="Rbc3e1edb1a2848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be6e7ff94741d9" /><Relationship Type="http://schemas.openxmlformats.org/officeDocument/2006/relationships/notesMaster" Target="/ppt/notesMasters/notesMaster1.xml" Id="Rca8e331530e242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Industrial operations produce more signals than teams can investigate. RigOS turns an incident into a transparent, coordinated, human-authorized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RigOS pitch script</a:t>
            </a:r>
          </a:p>
          <a:p xmlns:a="http://schemas.openxmlformats.org/drawingml/2006/main">
            <a:r>
              <a:t>- Generated cover visual: built-in image generation tool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 three failure modes, then connect them to the business consequence. The problem is not missing data; it is missing operational coordination.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RigOS pitch script: Opening &amp; Problem Statement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product as three layers. RigOS observes and coordinates; it does not replace the accountable operator or command physical equipment in this prototype.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docs/OPERATING_MODEL.md</a:t>
            </a:r>
          </a:p>
          <a:p xmlns:a="http://schemas.openxmlformats.org/drawingml/2006/main">
            <a:r>
              <a:t>- frontend/src/assets/hero.png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credibility slide. Cite the running demo: 384 assets, a two-second telemetry cadence, and nine tasks in the pressure-response workflow. Clearly label simulated actuation.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local-demo backend output, 2026-08-03</a:t>
            </a:r>
          </a:p>
          <a:p xmlns:a="http://schemas.openxmlformats.org/drawingml/2006/main">
            <a:r>
              <a:t>- backend/mao/workflows/pressure_workflow.py</a:t>
            </a:r>
          </a:p>
          <a:p xmlns:a="http://schemas.openxmlformats.org/drawingml/2006/main">
            <a:r>
              <a:t>- backend/mao/workflows/intelligence_tasks.py</a:t>
            </a:r>
          </a:p>
          <a:p xmlns:a="http://schemas.openxmlformats.org/drawingml/2006/main">
            <a:r>
              <a:t>- docs/OPERATING_MODEL.md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differentiator is the chain: each specialist contributes structured evidence, then the human decision and audit record complete the operational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backend/mao/orchestrator.py</a:t>
            </a:r>
          </a:p>
          <a:p xmlns:a="http://schemas.openxmlformats.org/drawingml/2006/main">
            <a:r>
              <a:t>- backend/mao/workflows/pressure_workflow.py</a:t>
            </a:r>
          </a:p>
          <a:p xmlns:a="http://schemas.openxmlformats.org/drawingml/2006/main">
            <a:r>
              <a:t>- backend/database/models.py</a:t>
            </a:r>
          </a:p>
          <a:p xmlns:a="http://schemas.openxmlformats.org/drawingml/2006/main">
            <a:r>
              <a:t>- docs/OPERATING_MODEL.md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demo map. Move through Command Center, Incident Center, AI Investigation, Maintenance and Reports while keeping the same incident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frontend/src/App.jsx</a:t>
            </a:r>
          </a:p>
          <a:p xmlns:a="http://schemas.openxmlformats.org/drawingml/2006/main">
            <a:r>
              <a:t>- frontend/src/redesign/ProductPage.jsx</a:t>
            </a:r>
          </a:p>
          <a:p xmlns:a="http://schemas.openxmlformats.org/drawingml/2006/main">
            <a:r>
              <a:t>- docs/DESIGN_SYSTEM.md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updated stack. Mention the graceful local-demo path and the production path separately. The application supports WebSocket snapshots with REST fallback and honest unavailable states.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frontend/package.json</a:t>
            </a:r>
          </a:p>
          <a:p xmlns:a="http://schemas.openxmlformats.org/drawingml/2006/main">
            <a:r>
              <a:t>- backend/requirements.txt</a:t>
            </a:r>
          </a:p>
          <a:p xmlns:a="http://schemas.openxmlformats.org/drawingml/2006/main">
            <a:r>
              <a:t>- backend/api/main.py</a:t>
            </a:r>
          </a:p>
          <a:p xmlns:a="http://schemas.openxmlformats.org/drawingml/2006/main">
            <a:r>
              <a:t>- docs/DATA_CONTRACT.md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trust moat. Explain that RigOS separates AI workflow completion from physical incident resolution and records operator rationale without pretending the prototype is a certified control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docs/OPERATING_MODEL.md</a:t>
            </a:r>
          </a:p>
          <a:p xmlns:a="http://schemas.openxmlformats.org/drawingml/2006/main">
            <a:r>
              <a:t>- docs/DATA_CONTRACT.md</a:t>
            </a:r>
          </a:p>
          <a:p xmlns:a="http://schemas.openxmlformats.org/drawingml/2006/main">
            <a:r>
              <a:t>- backend/api/main.py</a:t>
            </a:r>
          </a:p>
          <a:p xmlns:a="http://schemas.openxmlformats.org/drawingml/2006/main">
            <a:r>
              <a:t>- backend/database/models.py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every number as a planning assumption. The model is bottom-up: number of target sites multiplied by the target annual contract value. The first commercial step is a paid pilot with measurable baselines.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financial requirements</a:t>
            </a:r>
          </a:p>
          <a:p xmlns:a="http://schemas.openxmlformats.org/drawingml/2006/main">
            <a:r>
              <a:t>- RigOS_Round_1_and_2_Script_Pack.docx</a:t>
            </a:r>
          </a:p>
          <a:p xmlns:a="http://schemas.openxmlformats.org/drawingml/2006/main">
            <a:r>
              <a:t>- backend/services/revenue_impact_calculator.py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connects customer value to the commercial model. The three-year figures are objectives, not forecasts. In the app, Executive Reports lets judges change downtime cost, response time, incident frequency and subscription price to see ROI and payback update transparently.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backend/services/revenue_impact_calculator.py</a:t>
            </a:r>
          </a:p>
          <a:p xmlns:a="http://schemas.openxmlformats.org/drawingml/2006/main">
            <a:r>
              <a:t>- frontend/src/redesign/views/ExecutiveBriefing.jsx</a:t>
            </a:r>
          </a:p>
          <a:p xmlns:a="http://schemas.openxmlformats.org/drawingml/2006/main">
            <a:r>
              <a:t>- RigOS_Round_1_and_2_Script_Pack.docx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Scale deliberately. Production deployment requires real plant connectors, model validation, security review, observability and safety approval. The modular architecture then supports adjacent industries.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docs/OPERATING_MODEL.md</a:t>
            </a:r>
          </a:p>
          <a:p xmlns:a="http://schemas.openxmlformats.org/drawingml/2006/main">
            <a:r>
              <a:t>- User-provided RigOS pitch script: Future Scaling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opening: RigOS bridges the gap between industrial data and accountable human decisions. Invite the judges into the live incident demo or Q&amp;A.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RigOS pitch script: Closing</a:t>
            </a:r>
          </a:p>
          <a:p xmlns:a="http://schemas.openxmlformats.org/drawingml/2006/main">
            <a:r>
              <a:t>- frontend/src/assets/hero.png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cb71f1194f43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77d02cd3734de0" /><Relationship Type="http://schemas.openxmlformats.org/officeDocument/2006/relationships/slideLayout" Target="/ppt/slideLayouts/slideLayout1.xml" Id="Rae3b0762e42147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3b0762e42147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cea91dca44874" /><Relationship Type="http://schemas.openxmlformats.org/officeDocument/2006/relationships/image" Target="/ppt/media/image.png" Id="R4991d0dbb5fa4187" /><Relationship Type="http://schemas.openxmlformats.org/officeDocument/2006/relationships/notesSlide" Target="/ppt/notesSlides/notesSlide1.xml" Id="Rdea0a9d7a48a4d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13f910c5f440d" /><Relationship Type="http://schemas.openxmlformats.org/officeDocument/2006/relationships/notesSlide" Target="/ppt/notesSlides/notesSlide2.xml" Id="Rd1631bb5ea0241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3fce1785040ad" /><Relationship Type="http://schemas.openxmlformats.org/officeDocument/2006/relationships/image" Target="/ppt/media/image2.png" Id="R0397293f12d84762" /><Relationship Type="http://schemas.openxmlformats.org/officeDocument/2006/relationships/notesSlide" Target="/ppt/notesSlides/notesSlide3.xml" Id="R453c3c4256a34e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c91ec3aa747c0" /><Relationship Type="http://schemas.openxmlformats.org/officeDocument/2006/relationships/notesSlide" Target="/ppt/notesSlides/notesSlide4.xml" Id="R6341845976f746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3cce9454d433e" /><Relationship Type="http://schemas.openxmlformats.org/officeDocument/2006/relationships/notesSlide" Target="/ppt/notesSlides/notesSlide5.xml" Id="R939eecb579c140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e90fc6f8744a2" /><Relationship Type="http://schemas.openxmlformats.org/officeDocument/2006/relationships/notesSlide" Target="/ppt/notesSlides/notesSlide6.xml" Id="R63cd5157e7b24c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87669e838422c" /><Relationship Type="http://schemas.openxmlformats.org/officeDocument/2006/relationships/notesSlide" Target="/ppt/notesSlides/notesSlide7.xml" Id="Rf29d193e882d48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3b92ba45e4201" /><Relationship Type="http://schemas.openxmlformats.org/officeDocument/2006/relationships/notesSlide" Target="/ppt/notesSlides/notesSlide8.xml" Id="R379d29d89d2d4f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06f439f5a46d7" /><Relationship Type="http://schemas.openxmlformats.org/officeDocument/2006/relationships/notesSlide" Target="/ppt/notesSlides/notesSlide9.xml" Id="R3bf74b06ad344a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bace529c045fc" /><Relationship Type="http://schemas.openxmlformats.org/officeDocument/2006/relationships/notesSlide" Target="/ppt/notesSlides/notesSlide10.xml" Id="Rfd1cf6a1397142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e248beeaa4fef" /><Relationship Type="http://schemas.openxmlformats.org/officeDocument/2006/relationships/notesSlide" Target="/ppt/notesSlides/notesSlide11.xml" Id="R2e3abd54742947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78b5beb4c41d6" /><Relationship Type="http://schemas.openxmlformats.org/officeDocument/2006/relationships/image" Target="/ppt/media/image3.png" Id="Rbe975d032de14aff" /><Relationship Type="http://schemas.openxmlformats.org/officeDocument/2006/relationships/notesSlide" Target="/ppt/notesSlides/notesSlide12.xml" Id="R3e3eaf5b40974d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1d0dbb5fa418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E7F50-26BB-4460-A81D-2E3289E3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A">
              <a:alpha val="80000"/>
            </a:srgbClr>
          </a:solidFill>
          <a:ln xmlns:a="http://schemas.openxmlformats.org/drawingml/2006/main" w="0">
            <a:solidFill>
              <a:srgbClr val="07101A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F78BE-EA7C-432B-BDF6-496823EB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FC8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8F5"/>
                </a:solidFill>
                <a:latin typeface="Arial"/>
                <a:ea typeface="Arial"/>
                <a:cs typeface="Arial"/>
              </a:rPr>
              <a:t>SHRITEQ 2026  /  AI AGENTS FOR INDUSTRY BREAKTHROUGHS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B0B25-275E-447F-9D77-7E0A004A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590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RigOS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D56EE-0CC6-45A5-BDAF-7095F020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561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6E4F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6E4F8"/>
                </a:solidFill>
                <a:latin typeface="Arial"/>
                <a:ea typeface="Arial"/>
                <a:cs typeface="Arial"/>
              </a:rPr>
              <a:t>Industrial incidents—investigated, explained and acted 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C9EE4-FF41-44EE-9F65-9ABE64E7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A1526">
              <a:alpha val="80000"/>
            </a:srgbClr>
          </a:solidFill>
          <a:ln xmlns:a="http://schemas.openxmlformats.org/drawingml/2006/main" w="9525">
            <a:solidFill>
              <a:srgbClr val="4F8C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9A0E0-19B8-4B06-8A01-9D05FC8A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MULTI-AGENT INTELLIGENCE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9CEF1-DC11-48A5-A776-3596829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Human-authorized. Audit-ready. Built for operations.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1CFB0-1707-4C92-96F3-5CAB7357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103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D3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5D3E8"/>
                </a:solidFill>
                <a:latin typeface="Arial"/>
                <a:ea typeface="Arial"/>
                <a:cs typeface="Arial"/>
              </a:rPr>
              <a:t>SAHIL  ·  ABEER  ·  ASHUTOSH  ·  ZINIA  ·  SIDDHARTH</a:t>
            </a:r>
          </a:p>
        </p:txBody>
      </p:sp>
    </p:spTree>
    <p:extLst>
      <p:ext uri="{BB962C8B-B14F-4D97-AF65-F5344CB8AC3E}">
        <p14:creationId xmlns:p14="http://schemas.microsoft.com/office/powerpoint/2010/main" val="1742423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1AF75-71A7-4CE6-AC4E-11D98B88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66A30-29A2-4D0D-8D96-A1D6B74D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Industrial response breaks at the moment speed matters most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25CF1-9E92-4992-BD29-063D873D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RIGOS  /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BD2B3-058C-4F25-B520-0C3C7BD5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D"/>
          </a:solidFill>
          <a:ln xmlns:a="http://schemas.openxmlformats.org/drawingml/2006/main" w="0">
            <a:solidFill>
              <a:srgbClr val="2636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F233A-FEC5-4627-A369-4FAEA252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62125"/>
            <a:ext cx="33528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5FD2F-4899-4205-81FD-2FA8DBCB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1DC1D-88CF-4C62-9F95-F31890D6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2895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Signal overload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CA6B0-9F10-48EC-8774-FEB1529C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895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Thousands of telemetry events compete for attention.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D8967-D252-422D-823E-B0C66C29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62125"/>
            <a:ext cx="33528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8B5CF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A84A5-2F27-422D-8E84-62A8281E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53FC6-7019-4A8F-82EB-079882AF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14600"/>
            <a:ext cx="2895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Opaque recommendations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8E849-0AD0-4FDC-8CE4-3A3926F0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2895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Black-box answers cannot earn trust in safety-critical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C23A1-2345-4012-A941-D8457584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62125"/>
            <a:ext cx="33528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4F8C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34788-C9EE-4044-A2F1-367F4E89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FEFFC-DEAD-4B77-851C-8FA1BE7E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2895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Disconnected 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6591A-CB6D-4F2C-8CA6-F03FBB08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895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Investigation, maintenance and reporting live in separate tools.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37E24-42B6-4795-9615-8A01866A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11201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The result: slower incident response, avoidable downtime and operational risk.</a:t>
            </a:r>
          </a:p>
        </p:txBody>
      </p:sp>
    </p:spTree>
    <p:extLst>
      <p:ext uri="{BB962C8B-B14F-4D97-AF65-F5344CB8AC3E}">
        <p14:creationId xmlns:p14="http://schemas.microsoft.com/office/powerpoint/2010/main" val="1954728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926B2-88FA-46A4-9522-E1FD6686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99FC5-5311-4647-96D7-A385AF1B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RigOS is an operating layer—not another industrial chatbot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5439C-3026-4A39-BA9A-88A5CDBB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RIGOS  /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9B7B1-F70B-45AB-A415-773D790E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D"/>
          </a:solidFill>
          <a:ln xmlns:a="http://schemas.openxmlformats.org/drawingml/2006/main" w="0">
            <a:solidFill>
              <a:srgbClr val="26364D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7293f12d84762"/>
          <a:stretch xmlns:a="http://schemas.openxmlformats.org/drawingml/2006/main"/>
        </p:blipFill>
        <p:spPr>
          <a:xfrm xmlns:a="http://schemas.openxmlformats.org/drawingml/2006/main">
            <a:off x="790390" y="1809750"/>
            <a:ext cx="2534019" cy="2667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5E6AA-9EAB-48CC-9FAF-B9306521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Signals 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D9455-05A1-48A6-8C9B-FC03BF0B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Decisions 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9CEA8-EA9B-4B02-8504-AB817396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7239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75DD8-1711-4B10-BCC0-6C8E3DBC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62150"/>
            <a:ext cx="647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OPERATIONS SPINE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5F9B8-180A-40F1-BD79-8332D07E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47900"/>
            <a:ext cx="647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Telemetry · assets · incidents · maintenance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7A90F-97A3-43EF-A898-957FD1E9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239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4F8C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EC2DE-3B5F-4DD3-A502-9D992572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00400"/>
            <a:ext cx="647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MULTI-AGENT ORCHESTRATION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E29A9-6409-4D29-9F76-993B7277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86150"/>
            <a:ext cx="647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Select workflow · schedule specialists · consolidate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E6B72-98A0-4EC5-AA0D-2A40D5C3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7239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F89DE-3894-4A44-BC4D-7F471137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38650"/>
            <a:ext cx="647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ACCOUNTABILITY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2F60D-F2E7-4CAF-844B-8FBF6C2B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24400"/>
            <a:ext cx="647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Approve · reject · escalate · request evidence · 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60719-D364-4410-8BDD-5D279A77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388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The operator remains the final authority.</a:t>
            </a:r>
          </a:p>
        </p:txBody>
      </p:sp>
    </p:spTree>
    <p:extLst>
      <p:ext uri="{BB962C8B-B14F-4D97-AF65-F5344CB8AC3E}">
        <p14:creationId xmlns:p14="http://schemas.microsoft.com/office/powerpoint/2010/main" val="2484546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3ECCF0-A7D9-4E4F-89BD-FD913DC3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WORKING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27A59-11C8-47BC-8FF2-90E19B16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The current build runs a complete industrial incident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1AC31-C8B2-4AFF-8CCD-0A8423DA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RIGOS  /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F922D-F662-4B35-B4E5-BFF12A25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D"/>
          </a:solidFill>
          <a:ln xmlns:a="http://schemas.openxmlformats.org/drawingml/2006/main" w="0">
            <a:solidFill>
              <a:srgbClr val="2636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B1AA3-BC5D-4054-9042-FD146D9E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2571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35136-7EEA-42D0-B05D-9F366C70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384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42999-FDC1-4F97-9ED1-89F41EE3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Simulated industrial assets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FE09C-98B0-475F-9D59-8BAB08E1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2571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D16F3-A3E4-499F-B0D3-4F1EAD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57375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2 sec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D17E6-B4C6-4E3B-A896-E41CC4F8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Telemetry update cadence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53E49-6025-4BD7-8284-5374CD10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0"/>
            <a:ext cx="2571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C60A8-8659-4165-8FA2-1E5EC6F8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57375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DB3813-29AF-4213-B403-2567C4C2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38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Pressure-response tasks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97F6B-664F-4853-A413-43B9817A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14500"/>
            <a:ext cx="2571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D5613-5319-4DE5-8182-9E44131D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57375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9E0B4-1042-4FA2-A564-21730BDB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38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Operational workspaces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7304C-1D92-45D5-8F4B-2B83518D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112014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C45B4-BF37-495E-BEEC-AC14AC2F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LIVE LOCAL-DEMO TRACE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E6419C-9AE7-47B6-8286-6B192E1A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Pressure spike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841114-AB24-4AD3-8841-79122B5E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52875"/>
            <a:ext cx="38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83DE9A-93AD-475F-83B7-611CB9A7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57625"/>
            <a:ext cx="7858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Sensor → Safety → Diagnostic → Maintenance → Planning → Knowledge → Prediction → Notification →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5A28F-F4D0-4900-9C12-0455D7C9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A critical pressure breach shut off the affected simulated asset, created a maintenance path and compiled an execution report.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684594-CAD1-46E1-9FF7-FAEF0141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1120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Prototype evidence—not a claim of certified plant control.</a:t>
            </a:r>
          </a:p>
        </p:txBody>
      </p:sp>
    </p:spTree>
    <p:extLst>
      <p:ext uri="{BB962C8B-B14F-4D97-AF65-F5344CB8AC3E}">
        <p14:creationId xmlns:p14="http://schemas.microsoft.com/office/powerpoint/2010/main" val="19122780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D4F921-B0DA-4FD2-89DB-E5C7FC14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AGENT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4427E-59E3-4EC2-A6D2-FD58DC7E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One event activates the right specialists—and preserves the chain of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C4D64-CECA-4099-880E-B0E2DE09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RIGOS  /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0DD12-A7B1-4933-BA24-FE463947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D"/>
          </a:solidFill>
          <a:ln xmlns:a="http://schemas.openxmlformats.org/drawingml/2006/main" w="0">
            <a:solidFill>
              <a:srgbClr val="2636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5610E-8F48-4FCC-B6FF-50D81329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038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D"/>
          </a:solidFill>
          <a:ln xmlns:a="http://schemas.openxmlformats.org/drawingml/2006/main" w="0">
            <a:solidFill>
              <a:srgbClr val="26364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D718D-8153-4A20-95BD-5DB37152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19050">
            <a:solidFill>
              <a:srgbClr val="070B1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3C531-C3F8-45AD-8179-4FD38AB4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4193A-0ECB-4E3C-B8AE-EF3A9B7B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ECCB0-7E23-42C5-AC89-60F4F8F4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Telemetry + thresholds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18C3D-F154-4690-9644-9E539434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956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19050">
            <a:solidFill>
              <a:srgbClr val="070B1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8BB7B-BD51-4123-BF8F-118F844C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097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578FA-C6A0-4244-BDE3-480BDB51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3360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BE86F1-79DC-4A74-9071-940FD217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9555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Safety + diagnosis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EEE27-C6C7-47A2-BB65-E9184495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956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19050">
            <a:solidFill>
              <a:srgbClr val="070B1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779EA8-3952-4320-8950-628CFCC1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FC3C4B-EBE5-4226-8080-74E61312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Ground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18E61-0D38-4FF5-9E6A-7F1B5A36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9555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SOP + plant knowledge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F55E0-7B95-4760-85C2-C29F89A2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956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19050">
            <a:solidFill>
              <a:srgbClr val="070B1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6AFEB-CA5C-4463-B28D-9A866632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97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B215AA-14C9-4D2D-B0BB-E409B46E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656646-CAA4-4BB7-B261-9E65E6A4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9555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Maintenance + recovery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96B26-927A-41B8-946B-03D1858B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956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070B1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D06AF-24E5-4F0D-BD8C-6488688A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D11F37-712C-46BB-BAA6-C55F1569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3360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5CE57D-A9AF-4DC1-8EC0-4C73E4AD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9555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Human rationale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0147EE-CC7D-4B48-8018-8F4416CB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956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19050">
            <a:solidFill>
              <a:srgbClr val="070B1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21B53B-32AA-452E-B588-1C3A7AC3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8097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254D66-D8AF-4816-9DF5-9943667E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3360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BB69ED-37D8-4791-9C6E-347283EC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9555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Report + audit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05DD99-B41F-4FEC-B768-B22A1069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971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1828"/>
          </a:solidFill>
          <a:ln xmlns:a="http://schemas.openxmlformats.org/drawingml/2006/main" w="9525">
            <a:solidFill>
              <a:srgbClr val="8B5CF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C87AF2-70B9-486C-B2EC-0E2E407D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Every stage contributes findings, evidence, confidence and recommended actions.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83DD14-33A7-41A2-A2F5-B872838C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24400"/>
            <a:ext cx="914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Completion of an AI report does not imply the physical incident is resolved.</a:t>
            </a:r>
          </a:p>
        </p:txBody>
      </p:sp>
    </p:spTree>
    <p:extLst>
      <p:ext uri="{BB962C8B-B14F-4D97-AF65-F5344CB8AC3E}">
        <p14:creationId xmlns:p14="http://schemas.microsoft.com/office/powerpoint/2010/main" val="3007221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7C0058-C1BE-4507-8FBF-9FB15341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C0B31-E2AE-462C-8C9E-6541ACBB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Seven connected workspaces keep every incident in one operating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5A9A3-A313-4EAC-BE60-05EAA065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RIGOS  /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5D7BF-4F88-41C2-A19D-017E6EA0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D"/>
          </a:solidFill>
          <a:ln xmlns:a="http://schemas.openxmlformats.org/drawingml/2006/main" w="0">
            <a:solidFill>
              <a:srgbClr val="2636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A73FD-D91B-42DD-A6C7-89AA7F3E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2514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45DEF-F06E-45D3-8927-F933A70E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6E4F1-58CE-4B82-B5EC-7346F21A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171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Command Center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BC427-29E8-4DA4-A9CA-4589EF83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171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Facility posture + 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DEAC4-CF70-455D-8B3A-270910CB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14500"/>
            <a:ext cx="2514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A568D-C1BA-4733-AC67-23FCF1A4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66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5BF85-222C-4376-ABFA-8150D34C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90750"/>
            <a:ext cx="2171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Critical Assets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DCECC-059F-468D-BA33-AEEF3EA7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71750"/>
            <a:ext cx="2171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Twin + telemetry + exposure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2802E-7883-43A4-8484-F75D5854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514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2D9A7-9167-48EC-8733-70BF32ED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66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5866A-0863-46A7-8B1F-8C741208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171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Incident Center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82342-16C2-4699-9FF0-8ACB4218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2171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Queue + timeline +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BF0EF-D098-462B-A70F-6F9B88C0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14500"/>
            <a:ext cx="2514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8B5CF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6CC51-4AF1-4DA3-9D33-A8622A88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66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A547DB-FDFF-417E-8180-D045DB8E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90750"/>
            <a:ext cx="2171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AI Investigation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DE4F2-2E8C-436C-9943-ADF6F98B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2171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Agent stages + human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C62E67-AAEB-4918-9FA4-8B2BC105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34480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94336A-965A-416C-B00D-493CA5F9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F8B470-D6D8-41F7-B44B-DD072A68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105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Maintenance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7AE5F3-13CB-46C1-8BD3-A2083CED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3105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Risk-prioritized work orders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58F164-8F36-4079-B24B-3FA24D4F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19500"/>
            <a:ext cx="34480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49F4D5-F01A-4F95-804F-F2298F5B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71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02F2AF-737B-482C-A85F-460CA7E3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95750"/>
            <a:ext cx="3105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Forecasting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892C65-68B3-481D-A280-D778707B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105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Health trajectory + intervention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BDEC74-F157-4816-873A-9CBC7B36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19500"/>
            <a:ext cx="34480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5C96A1-78D6-433A-9A13-BAE3EBD7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71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49FCAC-6DDA-4B5E-8233-75F468EE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95750"/>
            <a:ext cx="3105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Executive Reports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C771E4-1D6E-44DF-8E27-A8BBE313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76750"/>
            <a:ext cx="3105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Decision-ready outcomes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E000F7-FE5F-4B69-8082-BC19378F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72125"/>
            <a:ext cx="11201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Same asset. Same incident. Same audit trail.</a:t>
            </a:r>
          </a:p>
        </p:txBody>
      </p:sp>
    </p:spTree>
    <p:extLst>
      <p:ext uri="{BB962C8B-B14F-4D97-AF65-F5344CB8AC3E}">
        <p14:creationId xmlns:p14="http://schemas.microsoft.com/office/powerpoint/2010/main" val="5861912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0FE86D-960E-4EA3-AE2A-4611ED8D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UPDATED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12ACF-7E89-4D4D-B8D4-7FA1C698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The stack separates experience, intelligence, data and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D0226-A271-4730-A0B1-AC2CE04B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RIGOS  /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ACF9E-B22A-49EE-B5C4-1CEDAB90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D"/>
          </a:solidFill>
          <a:ln xmlns:a="http://schemas.openxmlformats.org/drawingml/2006/main" w="0">
            <a:solidFill>
              <a:srgbClr val="2636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12CD3-E2D1-4257-B1FD-B0FD85D0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11201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26F44-5A4F-4071-BD4F-5DDD450F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C9E3C-764C-4C64-9B5F-FE70284A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3355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React 19 · Vite 8 · MUI · RigOS design system · Visx / D3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515A6-71A5-418B-834A-0C840C20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11201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88F06-FCD5-44C0-ACC6-FC698996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REAL-TIME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CC427-E56B-4032-A945-7AF1B157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1460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FastAPI · REST · WebSockets · polling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507AE-EBA4-4C0F-AA36-55DC6E02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11201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8B5CF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81477-4D15-4DF3-A97A-F92A3851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AGENT 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056941-C7FB-4DB5-BEB0-153AEA82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9565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Python MAO kernel · registry · scheduler · policy engine · workflows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FF929-E1A5-4BB7-A725-E11A874E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62400"/>
            <a:ext cx="11201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F021A7-EFB2-4300-8406-D509246D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KNOWLEDGE +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8EA35-FF33-4566-BF4D-EB8DD283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7670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Gemini · LangChain · RAG · pgvector / FAISS local 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C30D4-3EC9-438F-8C2F-B48A0865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3450"/>
            <a:ext cx="11201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37B6F-027C-482D-8BC4-59AC7AA8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DATA + DELIVERY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EB1CA-63FE-4D84-A473-757A24AA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5775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SQLAlchemy · PostgreSQL · Alembic · Railway · Vercel-ready CORS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5A099-1E14-48DE-AED7-BBF1DFFA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1120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Local demo mode removes PostgreSQL and Gemini as blockers—without inventing missing telemetry.</a:t>
            </a:r>
          </a:p>
        </p:txBody>
      </p:sp>
    </p:spTree>
    <p:extLst>
      <p:ext uri="{BB962C8B-B14F-4D97-AF65-F5344CB8AC3E}">
        <p14:creationId xmlns:p14="http://schemas.microsoft.com/office/powerpoint/2010/main" val="17545896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4DDD46-378C-49A7-A713-A5EFBE78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WHY OPERATORS CAN TRUST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BF6F8-428A-4D39-ABA9-E6966A7E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RigOS earns trust by making uncertainty and authority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AAE58-27BD-4087-AA34-4714A75C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RIGOS  /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016CD-5681-4B78-88AB-825BA8EC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D"/>
          </a:solidFill>
          <a:ln xmlns:a="http://schemas.openxmlformats.org/drawingml/2006/main" w="0">
            <a:solidFill>
              <a:srgbClr val="2636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18354-B21F-45F2-9733-AC81FE98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5334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4F8C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4457C-E1C1-4661-8E87-3DE8B932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485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Evidence lineage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58782-3724-4A72-8E83-B4C55674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Findings retain source context and structured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47760-E69C-4D86-A196-0A28151B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334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8B5CF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9D6DE-FA6C-4DAA-9712-ADD285E2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485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938A0-0445-4E91-A184-C6276E92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Each agent returns confidence with its recommendation.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F3343-E5AC-46E0-9E91-A73BE654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0"/>
            <a:ext cx="5334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2C55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936FD-A7DC-4322-8382-3ADBC307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85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Human authorization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40D89-1B06-469B-812D-131DE6AC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Approve, reject, escalate or request more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D0A1C-AB1E-48C8-ADB9-AA6DC4A6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5334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CE49F-D719-4B2A-A245-A0C24367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485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Provenance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7ADD2-E7A5-41C4-BC10-E447DD17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7195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7FC"/>
                </a:solidFill>
                <a:latin typeface="Arial"/>
                <a:ea typeface="Arial"/>
                <a:cs typeface="Arial"/>
              </a:rPr>
              <a:t>Live, estimated and stale data are explicitly distinguished.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98B51-FD1D-4522-9981-B7AD9B20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1201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F44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F4444"/>
                </a:solidFill>
                <a:latin typeface="Arial"/>
                <a:ea typeface="Arial"/>
                <a:cs typeface="Arial"/>
              </a:rPr>
              <a:t>No physical I/O. No fabricated telemetry. No silent ‘healthy’ state when services fail.</a:t>
            </a:r>
          </a:p>
        </p:txBody>
      </p:sp>
    </p:spTree>
    <p:extLst>
      <p:ext uri="{BB962C8B-B14F-4D97-AF65-F5344CB8AC3E}">
        <p14:creationId xmlns:p14="http://schemas.microsoft.com/office/powerpoint/2010/main" val="3068422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94D712-7330-434B-9648-59697E66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REVENUE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1E374-478E-4D5E-ABB2-8E958C69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A paid pilot proves value before the site subscription expands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0AF0E-6ADD-40FE-81AC-890381EE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RIGOS  /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FE326-38F6-4034-B5A5-0CC731E9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D"/>
          </a:solidFill>
          <a:ln xmlns:a="http://schemas.openxmlformats.org/drawingml/2006/main" w="0">
            <a:solidFill>
              <a:srgbClr val="2636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6B29B-17B0-400C-A81F-32DE60AD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33528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90BEC-3264-47F5-9FFE-C81D7290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PAID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B0F63-F05A-4FBF-A857-F470D22D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2895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8–12 weeks · one facility · one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4A717-81EE-4991-8F1C-E935406E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2895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₹5–10 lakh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EF894-2475-495C-B1AC-1DE51F5A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19250"/>
            <a:ext cx="33528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62235"/>
          </a:solidFill>
          <a:ln xmlns:a="http://schemas.openxmlformats.org/drawingml/2006/main" w="9525">
            <a:solidFill>
              <a:srgbClr val="4F8C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0AF1B-8015-4B51-85D7-30B1D7C7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66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SITE LICENSE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C7078-6660-4DCB-9847-1214CBEF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2895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Incident intelligence, agents and reporting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D7F4B-81FF-43B2-B4EF-2520A521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86150"/>
            <a:ext cx="2895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₹40 lakh target ACV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0A4A90-3BF8-4527-85A2-3F38D57D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19250"/>
            <a:ext cx="33528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372FB-E3AF-4C73-A627-6673D157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66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ENTERPRISE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D1AD2-C877-47BA-A808-C9BB1E44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2895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Multi-site governance, integrations and agent packs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93753-698F-4BDE-84C1-15A9AF8B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86150"/>
            <a:ext cx="2895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Custom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69F977-902B-4ACF-8875-A08D5AC7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11201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C1828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008FF-A02D-41AD-BCD8-1416A5F7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TAM  ₹4,000cr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8312A1-B2D8-4DBA-934D-F299B473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67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SAM  ₹400cr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13D2A-6B5C-4AF6-9767-6522EABC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3-YEAR SOM  ₹8cr ARR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AC00C-6BDF-49DC-A620-519BEC60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10,000 global sites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6D1F17-EDC6-4FFA-8844-69E4E62B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482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1,000 India + Gulf sites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A46B1D-31A5-40CF-8515-6882F5B4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20 deployed sites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49684A-E217-45D3-BDFA-91E64330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57875"/>
            <a:ext cx="1120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ILLUSTRATIVE BOTTOM-UP ASSUMPTIONS · NOT CURRENT TRACTION</a:t>
            </a:r>
          </a:p>
        </p:txBody>
      </p:sp>
    </p:spTree>
    <p:extLst>
      <p:ext uri="{BB962C8B-B14F-4D97-AF65-F5344CB8AC3E}">
        <p14:creationId xmlns:p14="http://schemas.microsoft.com/office/powerpoint/2010/main" val="2720619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732E85-6E57-4AF2-9C99-2EAC637D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FINANCIAL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72806-B07E-4F62-8BDF-1D8C0A04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Customer value funds disciplined growth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67161-FC73-4674-8B7D-196332FF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RIGOS  /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22D4D-2701-48F5-8A34-56892EE4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D"/>
          </a:solidFill>
          <a:ln xmlns:a="http://schemas.openxmlformats.org/drawingml/2006/main" w="0">
            <a:solidFill>
              <a:srgbClr val="2636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6060F-35C7-43F0-9408-84C0E789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11201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C1828"/>
          </a:solidFill>
          <a:ln xmlns:a="http://schemas.openxmlformats.org/drawingml/2006/main" w="9525">
            <a:solidFill>
              <a:srgbClr val="4F8C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66A22-CB9C-4FBE-80BB-89FD48C1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CUSTOMER ROI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BA729-0D8E-43F8-85CA-C97D4794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047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(Downtime cost/hour + team labor/hour) × hours saved × incidents/year − subscription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A0BC3-01C0-4317-9AAD-D3B285FA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33528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9DBEC-F30F-4EF4-9C4D-F6D9D9E7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₹0.4–0.8cr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55C76-883E-40C5-B1D3-E57E44D2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Year 1 · 1–2 converted sites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D2D50-499A-453F-8241-AD54FAA4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71800"/>
            <a:ext cx="33528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B4405-5CE8-4DEA-8BB0-1BF0859D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14675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₹3.2cr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27D60-F0C8-4839-9E96-298FD64F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9570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Year 2 · 8 deployed sites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33C30-DBA8-40C5-8A21-9FB46EC7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71800"/>
            <a:ext cx="33528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776B5-8E9D-450A-AAD3-6E9A77F9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14675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₹8cr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1CD61-9AEC-4AC5-8037-71078E3C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9570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3A4BA"/>
                </a:solidFill>
                <a:latin typeface="Arial"/>
                <a:ea typeface="Arial"/>
                <a:cs typeface="Arial"/>
              </a:rPr>
              <a:t>Year 3 · 20 deployed sites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0567B-007C-4F23-AF1E-7C16685C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29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PILOT KPIs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87EA8C-E39D-4F7B-956F-BEBC37F9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72000"/>
            <a:ext cx="9601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MTTI  ·  operator decision time  ·  handoffs  ·  downtime hours  ·  maintenance adherence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AD2B94-24DF-4B21-85D2-16E83ED7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62550"/>
            <a:ext cx="11201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The app exposes every ROI assumption and recalculates the value case live.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6F3D3B-C83F-4604-84D4-11802D71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11201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PLANNING SCENARIO · REPLACE WITH CUSTOMER BASELINES BEFORE COMMERCIAL CLAIMS</a:t>
            </a:r>
          </a:p>
        </p:txBody>
      </p:sp>
    </p:spTree>
    <p:extLst>
      <p:ext uri="{BB962C8B-B14F-4D97-AF65-F5344CB8AC3E}">
        <p14:creationId xmlns:p14="http://schemas.microsoft.com/office/powerpoint/2010/main" val="4851710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11521-360E-45FF-9C4E-4CD91CA0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SCALING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DABEF-E54F-422D-A60F-DC2AC173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Incident intelligence is the wedge into the industrial operating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471C8-C650-4B3C-AC6D-743B9A33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RIGOS  /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CB2F7-57F2-4DDF-BACD-51166426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D"/>
          </a:solidFill>
          <a:ln xmlns:a="http://schemas.openxmlformats.org/drawingml/2006/main" w="0">
            <a:solidFill>
              <a:srgbClr val="2636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37739-FC96-4EB4-B2E5-DCE3761E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33528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4D66A-ABDF-43F2-B0F6-C0EE8360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0FD7F-4C73-482A-B4DA-12CD0877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2895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Simulated telemetry</a:t>
            </a:r>
          </a:p>
          <a:p xmlns:a="http://schemas.openxmlformats.org/drawingml/2006/main">
            <a: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Multi-agent response</a:t>
            </a:r>
          </a:p>
          <a:p xmlns:a="http://schemas.openxmlformats.org/drawingml/2006/main">
            <a: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Human audit trail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61AC6-7A94-4B74-BBE8-57293FF4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33528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3C97A-46B5-48CB-9188-ED368E9A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383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53103-B142-4D42-8E2D-99799B54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2895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Historian / SCADA connectors</a:t>
            </a:r>
          </a:p>
          <a:p xmlns:a="http://schemas.openxmlformats.org/drawingml/2006/main">
            <a: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Validated failure models</a:t>
            </a:r>
          </a:p>
          <a:p xmlns:a="http://schemas.openxmlformats.org/drawingml/2006/main">
            <a: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Role-based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096BF-CCD7-40D0-BD28-4A702B7A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33528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63EC9-DDE4-4D67-B5A4-0A21ECB9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829C7-B699-4BD5-AC6B-1178ADC9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2895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Digital twins</a:t>
            </a:r>
          </a:p>
          <a:p xmlns:a="http://schemas.openxmlformats.org/drawingml/2006/main">
            <a: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Multi-site optimization</a:t>
            </a:r>
          </a:p>
          <a:p xmlns:a="http://schemas.openxmlformats.org/drawingml/2006/main">
            <a:pPr algn="l">
              <a:defRPr sz="1725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Industry-specific agent packs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FC3E4-C839-4B0B-8C86-A269F4A1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1201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Manufacturing · Power generation · Chemicals · Renewables · Mining</a:t>
            </a:r>
          </a:p>
        </p:txBody>
      </p:sp>
    </p:spTree>
    <p:extLst>
      <p:ext uri="{BB962C8B-B14F-4D97-AF65-F5344CB8AC3E}">
        <p14:creationId xmlns:p14="http://schemas.microsoft.com/office/powerpoint/2010/main" val="18484033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75d032de14aff"/>
          <a:stretch xmlns:a="http://schemas.openxmlformats.org/drawingml/2006/main"/>
        </p:blipFill>
        <p:spPr>
          <a:xfrm xmlns:a="http://schemas.openxmlformats.org/drawingml/2006/main">
            <a:off x="8262740" y="1428750"/>
            <a:ext cx="2715021" cy="2857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44AAE-B1E1-4589-A711-A13EEF6A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RIGOS  /  HUMAN-AUTHORIZED INDUSTRIAL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EF5F5-9FD8-4FE5-95DE-262BEF3A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695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Faster investigations.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E004A-C65F-490D-ADD1-783747DA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695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Better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7C66B-6BC9-425E-9992-C53D3458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695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3F7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7FC"/>
                </a:solidFill>
                <a:latin typeface="Arial"/>
                <a:ea typeface="Arial"/>
                <a:cs typeface="Arial"/>
              </a:rPr>
              <a:t>Safer operations.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0DD59-A7EA-41EC-8EBE-4E321742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657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C1828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56200-075A-45AB-A8C6-0B4DC9E6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609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Working prototype  ·  Nine-stage workflow  ·  Audit-ready outcomes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C4CDC-3B28-44B3-B727-10CE79ED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3A4B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A4BA"/>
                </a:solidFill>
                <a:latin typeface="Arial"/>
                <a:ea typeface="Arial"/>
                <a:cs typeface="Arial"/>
              </a:rPr>
              <a:t>Built for ShriTeq 2026</a:t>
            </a:r>
          </a:p>
        </p:txBody>
      </p:sp>
    </p:spTree>
    <p:extLst>
      <p:ext uri="{BB962C8B-B14F-4D97-AF65-F5344CB8AC3E}">
        <p14:creationId xmlns:p14="http://schemas.microsoft.com/office/powerpoint/2010/main" val="1630152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2026-08-03T08:07:48.7510000Z</dcterms:created>
  <dcterms:modified xsi:type="dcterms:W3CDTF">2026-08-03T08:07:48.7520000Z</dcterms:modified>
</coreProperties>
</file>